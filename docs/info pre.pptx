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619943"/>
            <a:ext cx="9144000" cy="1655762"/>
          </a:xfrm>
        </p:spPr>
        <p:txBody>
          <a:bodyPr/>
          <a:p>
            <a:r>
              <a:rPr lang="en-US" altLang="zh-CN"/>
              <a:t>4/10/2026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09650" y="1690370"/>
            <a:ext cx="10030460" cy="2292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Main Ideas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>
                <a:sym typeface="+mn-ea"/>
              </a:rPr>
              <a:t>Standard MDP = maximize sequential decision making reward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en-US" altLang="zh-CN"/>
              <a:t>Decision </a:t>
            </a:r>
            <a:r>
              <a:rPr lang="en-US" altLang="zh-CN"/>
              <a:t>making in information theory framework: </a:t>
            </a:r>
            <a:endParaRPr lang="en-US" altLang="zh-CN"/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</a:rPr>
              <a:t>   </a:t>
            </a:r>
            <a:r>
              <a:rPr lang="en-US" altLang="zh-CN" b="1">
                <a:solidFill>
                  <a:schemeClr val="accent1"/>
                </a:solidFill>
              </a:rPr>
              <a:t>Communication Cost</a:t>
            </a:r>
            <a:endParaRPr lang="en-US" altLang="zh-CN" b="1">
              <a:solidFill>
                <a:srgbClr val="FF0000"/>
              </a:solidFill>
            </a:endParaRPr>
          </a:p>
          <a:p>
            <a:pPr marL="0" indent="457200">
              <a:buNone/>
            </a:pPr>
            <a:endParaRPr lang="en-US" altLang="zh-CN" b="1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Tradeoff between </a:t>
            </a:r>
            <a:r>
              <a:rPr lang="en-US" altLang="zh-CN" b="1">
                <a:solidFill>
                  <a:schemeClr val="accent1"/>
                </a:solidFill>
              </a:rPr>
              <a:t>expected reward (value)</a:t>
            </a:r>
            <a:r>
              <a:rPr lang="en-US" altLang="zh-CN">
                <a:solidFill>
                  <a:schemeClr val="tx1"/>
                </a:solidFill>
              </a:rPr>
              <a:t> and </a:t>
            </a:r>
            <a:r>
              <a:rPr lang="en-US" altLang="zh-CN" b="1">
                <a:solidFill>
                  <a:schemeClr val="accent1"/>
                </a:solidFill>
              </a:rPr>
              <a:t>control information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More: regularization</a:t>
            </a:r>
            <a:endParaRPr lang="en-US" altLang="zh-CN">
              <a:solidFill>
                <a:schemeClr val="tx1"/>
              </a:solidFill>
            </a:endParaRPr>
          </a:p>
          <a:p>
            <a:pPr marL="457200" indent="-457200"/>
            <a:endParaRPr lang="en-US" altLang="zh-CN">
              <a:solidFill>
                <a:srgbClr val="FF0000"/>
              </a:solidFill>
            </a:endParaRPr>
          </a:p>
          <a:p>
            <a:pPr marL="457200" indent="-457200"/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7950"/>
            <a:ext cx="5062855" cy="1325880"/>
          </a:xfrm>
        </p:spPr>
        <p:txBody>
          <a:bodyPr/>
          <a:p>
            <a:r>
              <a:rPr lang="en-US" altLang="zh-CN"/>
              <a:t>Standard MDP Setup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8450"/>
            <a:ext cx="4956175" cy="2647315"/>
          </a:xfrm>
        </p:spPr>
        <p:txBody>
          <a:bodyPr/>
          <a:p>
            <a:r>
              <a:rPr lang="en-US" altLang="zh-CN"/>
              <a:t>states</a:t>
            </a:r>
            <a:endParaRPr lang="en-US" altLang="zh-CN"/>
          </a:p>
          <a:p>
            <a:r>
              <a:rPr lang="en-US" altLang="zh-CN"/>
              <a:t>actions</a:t>
            </a:r>
            <a:endParaRPr lang="en-US" altLang="zh-CN"/>
          </a:p>
          <a:p>
            <a:r>
              <a:rPr lang="en-US" altLang="zh-CN"/>
              <a:t>rewards</a:t>
            </a:r>
            <a:endParaRPr lang="en-US" altLang="zh-CN"/>
          </a:p>
          <a:p>
            <a:r>
              <a:rPr lang="en-US" altLang="zh-CN"/>
              <a:t>transition probabilities</a:t>
            </a:r>
            <a:endParaRPr lang="en-US" altLang="zh-CN"/>
          </a:p>
          <a:p>
            <a:r>
              <a:rPr lang="en-US" altLang="zh-CN"/>
              <a:t>a stationary policy</a:t>
            </a:r>
            <a:endParaRPr lang="en-US" altLang="zh-CN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852805" y="4340860"/>
            <a:ext cx="506285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Goal</a:t>
            </a:r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710565" y="5337175"/>
            <a:ext cx="8352155" cy="2647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narrow the setting to the </a:t>
            </a:r>
            <a:r>
              <a:rPr lang="en-US" altLang="zh-CN" b="1"/>
              <a:t>stochastic shortest path</a:t>
            </a:r>
            <a:endParaRPr lang="en-US" altLang="zh-CN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Setup (2)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Value function of policy </a:t>
            </a:r>
            <a:r>
              <a:rPr lang="zh-CN" altLang="en-US">
                <a:sym typeface="+mn-ea"/>
              </a:rPr>
              <a:t>𝜋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the probability of a whole trajectory under policy </a:t>
            </a:r>
            <a:r>
              <a:rPr lang="zh-CN" altLang="en-US"/>
              <a:t>𝜋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1660" y="1440815"/>
            <a:ext cx="5810250" cy="1428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45" y="4229100"/>
            <a:ext cx="8458200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Setup (3)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Optimal Value function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Optimal states-actions value function &amp; optimal policy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5020" y="1630680"/>
            <a:ext cx="7538085" cy="20897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75" y="4493260"/>
            <a:ext cx="5704840" cy="2110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Next, introduce Control Information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/>
              <a:t>one-step control information cost at state </a:t>
            </a:r>
            <a:r>
              <a:rPr lang="zh-CN" altLang="en-US"/>
              <a:t>𝑠</a:t>
            </a:r>
            <a:r>
              <a:rPr lang="en-US" altLang="zh-CN"/>
              <a:t>(KL divergence)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assume            is uniform over actions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total control information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9670" y="2350135"/>
            <a:ext cx="3759835" cy="968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375" y="3390900"/>
            <a:ext cx="775970" cy="457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515" y="3923665"/>
            <a:ext cx="6376035" cy="28460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Free Energy Formulation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free energy formulation function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minimization </a:t>
            </a:r>
            <a:r>
              <a:rPr lang="en-US" altLang="zh-CN"/>
              <a:t>→ constrained optimization problem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5375" y="2436495"/>
            <a:ext cx="7157085" cy="1870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4966970"/>
            <a:ext cx="5276215" cy="819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Recall: Rate-distortion Theory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Trade-off for: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Rate: The average number of bits per symbol used to describe the source information.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Distortion: A measure of the discrepancy between the original source and its reconstructed representation.</a:t>
            </a:r>
            <a:endParaRPr lang="en-US" altLang="zh-CN"/>
          </a:p>
          <a:p>
            <a:r>
              <a:rPr lang="en-US" altLang="zh-CN"/>
              <a:t>Convexity</a:t>
            </a:r>
            <a:endParaRPr lang="en-US" altLang="zh-CN"/>
          </a:p>
          <a:p>
            <a:r>
              <a:rPr lang="en-US" altLang="zh-CN"/>
              <a:t>Stochastic Nature</a:t>
            </a:r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r>
              <a:rPr lang="en-US" altLang="zh-CN" b="1">
                <a:solidFill>
                  <a:schemeClr val="accent1"/>
                </a:solidFill>
              </a:rPr>
              <a:t>→ Control Information as Bit Rate &amp; Optimal Planning</a:t>
            </a:r>
            <a:endParaRPr lang="en-US" altLang="zh-CN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Bellman’s </a:t>
            </a:r>
            <a:r>
              <a:rPr lang="en-US" altLang="zh-CN"/>
              <a:t>optimality equation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72160" y="1691005"/>
            <a:ext cx="10515600" cy="13550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95350" y="3597910"/>
            <a:ext cx="6726555" cy="1213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/>
              <a:t>Unique fixed point → </a:t>
            </a:r>
            <a:r>
              <a:rPr lang="en-US" altLang="zh-CN" sz="2800"/>
              <a:t>closed-form solution</a:t>
            </a:r>
            <a:endParaRPr lang="en-US" altLang="zh-CN" sz="2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4266565"/>
            <a:ext cx="4276725" cy="8477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395" y="5389880"/>
            <a:ext cx="8124825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Closed-form solution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52220" y="1691005"/>
            <a:ext cx="9258300" cy="1962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75" y="5443220"/>
            <a:ext cx="4498975" cy="83947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/>
        </p:nvSpPr>
        <p:spPr>
          <a:xfrm>
            <a:off x="965200" y="41173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Iterative </a:t>
            </a:r>
            <a:r>
              <a:rPr lang="en-US" altLang="zh-CN"/>
              <a:t>method with update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INFO-RL algorithm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36955" y="1617345"/>
            <a:ext cx="6938645" cy="43516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836025" y="2375535"/>
            <a:ext cx="2847975" cy="181483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p>
            <a:r>
              <a:rPr lang="en-US" altLang="zh-CN" sz="2800"/>
              <a:t>the optimal solutions are naturally </a:t>
            </a:r>
            <a:endParaRPr lang="en-US" altLang="zh-CN" sz="2800"/>
          </a:p>
          <a:p>
            <a:r>
              <a:rPr lang="en-US" altLang="zh-CN" sz="2800" b="1">
                <a:solidFill>
                  <a:schemeClr val="accent1"/>
                </a:solidFill>
              </a:rPr>
              <a:t>stochastic policies</a:t>
            </a:r>
            <a:endParaRPr lang="en-US" altLang="zh-CN" sz="2800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Value-information Curve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62045" y="1825625"/>
            <a:ext cx="486727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Special case: deterministic environment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21690" y="1826260"/>
            <a:ext cx="4393565" cy="14268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30" y="3561715"/>
            <a:ext cx="6152515" cy="13138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80" y="5128260"/>
            <a:ext cx="6522085" cy="1441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9990" y="2190750"/>
            <a:ext cx="1857375" cy="61912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9735820" y="3056255"/>
            <a:ext cx="0" cy="7086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4460" y="4011295"/>
            <a:ext cx="15240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Grid World Example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78225" y="1825625"/>
            <a:ext cx="503491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Regulation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PAC-bayesian approach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apply to the setting, we get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705" y="2195830"/>
            <a:ext cx="8344535" cy="10585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85" y="3912870"/>
            <a:ext cx="7523480" cy="24720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Regulation (2)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The bound for our setting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095" y="2486660"/>
            <a:ext cx="8639175" cy="13239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4009390"/>
            <a:ext cx="4787900" cy="26644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Discussion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1492</Words>
  <Application>WPS 演示</Application>
  <PresentationFormat>宽屏</PresentationFormat>
  <Paragraphs>103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微软雅黑</vt:lpstr>
      <vt:lpstr>Arial Unicode MS</vt:lpstr>
      <vt:lpstr>BatangChe</vt:lpstr>
      <vt:lpstr>Segoe Print</vt:lpstr>
      <vt:lpstr>WPS</vt:lpstr>
      <vt:lpstr>PowerPoint 演示文稿</vt:lpstr>
      <vt:lpstr>Main Ideas</vt:lpstr>
      <vt:lpstr>Standard MDP Setup</vt:lpstr>
      <vt:lpstr>Setup (2)</vt:lpstr>
      <vt:lpstr>Setup (3)</vt:lpstr>
      <vt:lpstr>Next, introduce Control Information</vt:lpstr>
      <vt:lpstr>Free Energy Formulation</vt:lpstr>
      <vt:lpstr>Recall: Rate-distortion Theory</vt:lpstr>
      <vt:lpstr>Bellman’s optimality equation</vt:lpstr>
      <vt:lpstr>Closed-form solution</vt:lpstr>
      <vt:lpstr>INFO-RL algorithm</vt:lpstr>
      <vt:lpstr>Value-information Curve</vt:lpstr>
      <vt:lpstr>Special case: deterministic environment</vt:lpstr>
      <vt:lpstr>Grid World Example</vt:lpstr>
      <vt:lpstr>Regulation</vt:lpstr>
      <vt:lpstr>Regulation (2)</vt:lpstr>
      <vt:lpstr>Discussion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姚易</dc:creator>
  <cp:lastModifiedBy>杨柳依依</cp:lastModifiedBy>
  <cp:revision>6</cp:revision>
  <dcterms:created xsi:type="dcterms:W3CDTF">2023-08-09T12:44:00Z</dcterms:created>
  <dcterms:modified xsi:type="dcterms:W3CDTF">2026-04-12T01:46:19Z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2868CBDD9DDE470A92745D95012A55B9_12</vt:lpwstr>
  </property>
</Properties>
</file>